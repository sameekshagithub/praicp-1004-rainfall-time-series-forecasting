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2102048"/>
            <a:ext cx="6179784" cy="1028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PRAICP-1004: Rainfall Time Series Forecasting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291898" y="3439120"/>
            <a:ext cx="617978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Artificial Intelligence capstone: monthly rainfall at Changi Climate Station (1982–2020). 462 monthly observations. Objective: produce reliable forecasts for the next 12 months — both total monthly rainfall and the highest daily rainfall per month.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945158"/>
            <a:ext cx="6179784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Statement &amp; Objectives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20012" y="1767979"/>
            <a:ext cx="2987005" cy="2463403"/>
          </a:xfrm>
          <a:prstGeom prst="roundRect">
            <a:avLst>
              <a:gd name="adj" fmla="val 3508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8387" y="1986359"/>
            <a:ext cx="255025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Primary objectives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8387" y="2366963"/>
            <a:ext cx="2550255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1) Forecast total monthly rainfall for next 12 months. 2) Forecast highest single-day rainfall within each month for the same horizon.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12693" y="1767979"/>
            <a:ext cx="2987104" cy="2463403"/>
          </a:xfrm>
          <a:prstGeom prst="roundRect">
            <a:avLst>
              <a:gd name="adj" fmla="val 3508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31068" y="1986359"/>
            <a:ext cx="255035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Supporting goals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31068" y="2366963"/>
            <a:ext cx="2550354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Conduct EDA, preprocess time-series data, engineer features, compare statistical and ML models, tune the best model, and extract business insights.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0012" y="4437063"/>
            <a:ext cx="6179784" cy="1475780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8387" y="4655443"/>
            <a:ext cx="57430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Audience use-cases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8387" y="5036046"/>
            <a:ext cx="574303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Reservoir management, flood preparedness, infrastructure planning and seasonal resource allocation.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067693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&amp; Ingestion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121892"/>
            <a:ext cx="3436852" cy="34369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050" y="2554486"/>
            <a:ext cx="681288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Files merged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4665050" y="3171627"/>
            <a:ext cx="6812883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rainfall-monthly-total.csv — total monthly rainfall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rainfall-monthly-highest-daily-total.csv — monthly max daily rainfall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rainfall-monthly-number-of-rain-days.csv — rainy days per month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65050" y="4488259"/>
            <a:ext cx="6812883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Process: extract ZIP → read CSVs → merge on month → convert month → datetime → sort → set monthly DateTime index (freq = M).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914400"/>
            <a:ext cx="6179784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Quality Checks (cell-wise)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291898" y="1737221"/>
            <a:ext cx="41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291898" y="2061468"/>
            <a:ext cx="2987005" cy="254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4"/>
          <p:cNvSpPr/>
          <p:nvPr/>
        </p:nvSpPr>
        <p:spPr>
          <a:xfrm>
            <a:off x="5291898" y="2215059"/>
            <a:ext cx="298700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Initial inspection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291898" y="2595662"/>
            <a:ext cx="2987005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head(), tail(), shape, columns, dtypes, info() and describe() to validate format and value ranges.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84578" y="1737221"/>
            <a:ext cx="41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84578" y="2061468"/>
            <a:ext cx="2987104" cy="254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1" name="Text 8"/>
          <p:cNvSpPr/>
          <p:nvPr/>
        </p:nvSpPr>
        <p:spPr>
          <a:xfrm>
            <a:off x="8484578" y="2215059"/>
            <a:ext cx="298710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Integrity checks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84578" y="2595662"/>
            <a:ext cx="2987104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Missing values, duplicates, start/end dates and expected monthly calendar comparison (no missing months detected).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291898" y="4272459"/>
            <a:ext cx="41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291898" y="4596705"/>
            <a:ext cx="6179784" cy="254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2"/>
          <p:cNvSpPr/>
          <p:nvPr/>
        </p:nvSpPr>
        <p:spPr>
          <a:xfrm>
            <a:off x="5291898" y="4750296"/>
            <a:ext cx="617978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Decision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91898" y="5130899"/>
            <a:ext cx="6179784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No imputation required — chronological continuity verified, proceed to EDA and feature engineering.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689497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Exploratory Data Analysis — Key Visuals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615208"/>
            <a:ext cx="1501440" cy="9278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3800277"/>
            <a:ext cx="34124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Historical trend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0012" y="4180880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Monthly total rainfall vs time — reveals long-term trend, seasonality and extreme events (spikes).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625" y="2615208"/>
            <a:ext cx="1501440" cy="9278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625" y="3800277"/>
            <a:ext cx="34124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Seasonality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389625" y="4180880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Average by calendar month — confirms a 12-month repeating seasonal pattern (monsoon cycles).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238" y="2615208"/>
            <a:ext cx="1501440" cy="9278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9238" y="3800277"/>
            <a:ext cx="34124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Distributions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059238" y="4180880"/>
            <a:ext cx="341244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Histograms for total, max-daily and rainy-day counts show skew and frequency of extreme values.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65745"/>
            <a:ext cx="1075167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Decomposition &amp; Stationarity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2535932"/>
            <a:ext cx="5250426" cy="24029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0271" y="4387268"/>
            <a:ext cx="985717" cy="151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Residual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497998" y="4387268"/>
            <a:ext cx="985717" cy="151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Seasonality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262476" y="4387268"/>
            <a:ext cx="985717" cy="151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Trend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999949" y="4387268"/>
            <a:ext cx="985716" cy="151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Observed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20012" y="4996755"/>
            <a:ext cx="5860010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decomposition isolates long-term trend, repeating 12-month seasonality and residual noise for model selection.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27607" y="951409"/>
            <a:ext cx="52504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Stationarity check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227607" y="1131391"/>
            <a:ext cx="5250426" cy="246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Augmented Dickey–Fuller (ADF) test used to assess stationarity. If non-stationary, apply differencing prior to SARIMA or use trend-removal for ML features.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607" y="1436092"/>
            <a:ext cx="5250426" cy="52505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13" y="149423"/>
            <a:ext cx="4372659" cy="65591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09898"/>
            <a:ext cx="6179784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Feature Engineering for ML</a:t>
            </a:r>
            <a:endParaRPr lang="en-US" sz="3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898" y="1397794"/>
            <a:ext cx="2993355" cy="264249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69020" y="1547217"/>
            <a:ext cx="23911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516524" y="2195016"/>
            <a:ext cx="2544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Time features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516524" y="2559943"/>
            <a:ext cx="2544104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month_num, year — encode seasonal position and long-term progression.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8328" y="1397794"/>
            <a:ext cx="2993355" cy="26424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55450" y="1547217"/>
            <a:ext cx="23911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02953" y="2195016"/>
            <a:ext cx="254410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Lag features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702953" y="2559943"/>
            <a:ext cx="2544104" cy="1255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lag_1, lag_2, lag_3, lag_12 — capture short-term autocorrelation and yearly seasonality.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898" y="4233366"/>
            <a:ext cx="6179784" cy="20146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62235" y="4382790"/>
            <a:ext cx="23911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5516524" y="5030589"/>
            <a:ext cx="573053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Rolling statistics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5516524" y="5395516"/>
            <a:ext cx="5730533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rolling_mean_12 — smooths past year behaviour to provide stable seasonal context.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83803"/>
            <a:ext cx="10751670" cy="425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Models &amp; Evaluation Strategy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2276574"/>
            <a:ext cx="425935" cy="4259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878832"/>
            <a:ext cx="6843144" cy="21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SARIMA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20012" y="3232845"/>
            <a:ext cx="684314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Seasonal statistical model (captures AR, I, MA + seasonality). Strong candidate given 12-month cycle.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3764161"/>
            <a:ext cx="425935" cy="4259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0012" y="4366419"/>
            <a:ext cx="6843144" cy="21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ML regressors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20012" y="4720431"/>
            <a:ext cx="6843144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Linear Regression, Random Forest, Gradient Boosting, XGBoost — use engineered features to predict next-step values.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985024" y="1362373"/>
            <a:ext cx="3492909" cy="21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Evaluation &amp; Tuning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985024" y="1716385"/>
            <a:ext cx="3492909" cy="7474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Chronological train/test split (no shuffle). Metrics: MAE, RMSE, R². Hyperparameter tuning with GridSearchCV using TimeSeriesSplit to avoid leakage.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024" y="2622451"/>
            <a:ext cx="3492909" cy="3492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1402556"/>
            <a:ext cx="6179784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Multi-step Forecasting Approaches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12" y="2225377"/>
            <a:ext cx="1028674" cy="14503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54362" y="2431058"/>
            <a:ext cx="494543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SARIMA (direct multi-step)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954362" y="2811661"/>
            <a:ext cx="4945435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Refit on full history and forecast 12 future months directly from the model’s seasonal structure.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3675757"/>
            <a:ext cx="1028674" cy="1779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54362" y="3881438"/>
            <a:ext cx="494543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ML: Recursive forecasting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954362" y="4262041"/>
            <a:ext cx="4945435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One-step model used recursively: predict month t+1 → feed prediction as lag to produce t+2 … until month t+12. Be aware of error accumulation.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042690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Results, Business Insights &amp; 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20012" y="1968401"/>
            <a:ext cx="3446773" cy="2463403"/>
          </a:xfrm>
          <a:prstGeom prst="roundRect">
            <a:avLst>
              <a:gd name="adj" fmla="val 3508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8387" y="2186781"/>
            <a:ext cx="30100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8387" y="2567384"/>
            <a:ext cx="301002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SARIMA captured seasonal cycles most reliably; ML models offered flexible nonlinear fits but required careful recursive forecasting and tuning.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72461" y="1968401"/>
            <a:ext cx="3446773" cy="2463403"/>
          </a:xfrm>
          <a:prstGeom prst="roundRect">
            <a:avLst>
              <a:gd name="adj" fmla="val 3508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0836" y="2186781"/>
            <a:ext cx="30100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90836" y="2567384"/>
            <a:ext cx="3010023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 forecasts for reservoir management, flood preparedness, infrastructure scheduling and seasonal planning. Highest-daily forecasts support flash-flood risk mitigation.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24909" y="1968401"/>
            <a:ext cx="3446773" cy="2463403"/>
          </a:xfrm>
          <a:prstGeom prst="roundRect">
            <a:avLst>
              <a:gd name="adj" fmla="val 3508"/>
            </a:avLst>
          </a:prstGeom>
          <a:solidFill>
            <a:srgbClr val="E6E6E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3284" y="2186781"/>
            <a:ext cx="301002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43284" y="2567384"/>
            <a:ext cx="3010023" cy="1316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Move to daily data, add external climate indices (ENSO), automate pipeline and retrain models, deploy forecasting API for operational use.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0012" y="4663182"/>
            <a:ext cx="10751670" cy="1152029"/>
          </a:xfrm>
          <a:prstGeom prst="roundRect">
            <a:avLst>
              <a:gd name="adj" fmla="val 7501"/>
            </a:avLst>
          </a:prstGeom>
          <a:solidFill>
            <a:srgbClr val="E6E6E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688" y="4956175"/>
            <a:ext cx="257169" cy="205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88532" y="4920258"/>
            <a:ext cx="9877476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Viva-ready summary: Load → Preprocess → EDA → Stationarity &amp; decomposition → Feature engineering → SARIMA + 4 ML models → TimeSeriesSplit tuning → 12-month forecasts (totals + highest daily)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2026-09-24T05:45:33Z</dcterms:created>
  <dcterms:modified xsi:type="dcterms:W3CDTF">2026-09-24T05:45:33Z</dcterms:modified>
</cp:coreProperties>
</file>