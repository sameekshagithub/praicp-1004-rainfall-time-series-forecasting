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21295C"/>
                </a:solidFill>
                <a:latin typeface="Arial"/>
              </a:defRPr>
            </a:pPr>
            <a:r>
              <a:rPr sz="1400" b="0" i="0" u="none" strike="noStrike">
                <a:solidFill>
                  <a:srgbClr val="21295C"/>
                </a:solidFill>
                <a:latin typeface="Arial"/>
              </a:rPr>
              <a:t>RMSE by Model (lower is better)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RMSE (mm)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2129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Linear
Regression</c:v>
                  </c:pt>
                  <c:pt idx="1">
                    <c:v>SARIMA</c:v>
                  </c:pt>
                  <c:pt idx="2">
                    <c:v>Gradient
Boosting</c:v>
                  </c:pt>
                  <c:pt idx="3">
                    <c:v>RF
(Tuned)</c:v>
                  </c:pt>
                  <c:pt idx="4">
                    <c:v>XGBoost</c:v>
                  </c:pt>
                  <c:pt idx="5">
                    <c:v>Random
Forest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82.8</c:v>
                </c:pt>
                <c:pt idx="1">
                  <c:v>84.5</c:v>
                </c:pt>
                <c:pt idx="2">
                  <c:v>85.4</c:v>
                </c:pt>
                <c:pt idx="3">
                  <c:v>95.2</c:v>
                </c:pt>
                <c:pt idx="4">
                  <c:v>100.4</c:v>
                </c:pt>
                <c:pt idx="5">
                  <c:v>103.4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2129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170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170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Forecast (mm)</c:v>
                </c:pt>
              </c:strCache>
            </c:strRef>
          </c:tx>
          <c:spPr>
            <a:solidFill>
              <a:srgbClr val="1C7293"/>
            </a:solidFill>
            <a:ln w="31750" cap="flat">
              <a:solidFill>
                <a:srgbClr val="1C7293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4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Sheet1!$A$2:$A$13</c:f>
              <c:multiLvlStrCache>
                <c:ptCount val="12"/>
                <c:lvl>
                  <c:pt idx="0">
                    <c:v>Jul</c:v>
                  </c:pt>
                  <c:pt idx="1">
                    <c:v>Aug</c:v>
                  </c:pt>
                  <c:pt idx="2">
                    <c:v>Sep</c:v>
                  </c:pt>
                  <c:pt idx="3">
                    <c:v>Oct</c:v>
                  </c:pt>
                  <c:pt idx="4">
                    <c:v>Nov</c:v>
                  </c:pt>
                  <c:pt idx="5">
                    <c:v>Dec</c:v>
                  </c:pt>
                  <c:pt idx="6">
                    <c:v>Jan</c:v>
                  </c:pt>
                  <c:pt idx="7">
                    <c:v>Feb</c:v>
                  </c:pt>
                  <c:pt idx="8">
                    <c:v>Mar</c:v>
                  </c:pt>
                  <c:pt idx="9">
                    <c:v>Apr</c:v>
                  </c:pt>
                  <c:pt idx="10">
                    <c:v>May</c:v>
                  </c:pt>
                  <c:pt idx="11">
                    <c:v>Jun</c:v>
                  </c:pt>
                </c:lvl>
              </c:multiLvlStrCache>
            </c:multiLvl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154.3</c:v>
                </c:pt>
                <c:pt idx="1">
                  <c:v>151.8</c:v>
                </c:pt>
                <c:pt idx="2">
                  <c:v>148.6</c:v>
                </c:pt>
                <c:pt idx="3">
                  <c:v>167.2</c:v>
                </c:pt>
                <c:pt idx="4">
                  <c:v>255.7</c:v>
                </c:pt>
                <c:pt idx="5">
                  <c:v>323.9</c:v>
                </c:pt>
                <c:pt idx="6">
                  <c:v>226.6</c:v>
                </c:pt>
                <c:pt idx="7">
                  <c:v>106.6</c:v>
                </c:pt>
                <c:pt idx="8">
                  <c:v>160.9</c:v>
                </c:pt>
                <c:pt idx="9">
                  <c:v>155.9</c:v>
                </c:pt>
                <c:pt idx="10">
                  <c:v>170.2</c:v>
                </c:pt>
                <c:pt idx="11">
                  <c:v>138.7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51707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3EE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1707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21295C"/>
          </a:solidFill>
          <a:ln/>
        </p:spPr>
      </p:sp>
      <p:sp>
        <p:nvSpPr>
          <p:cNvPr id="3" name="Shape 1"/>
          <p:cNvSpPr/>
          <p:nvPr/>
        </p:nvSpPr>
        <p:spPr>
          <a:xfrm>
            <a:off x="8961120" y="-1645920"/>
            <a:ext cx="5486400" cy="5486400"/>
          </a:xfrm>
          <a:prstGeom prst="ellipse">
            <a:avLst/>
          </a:prstGeom>
          <a:solidFill>
            <a:srgbClr val="065A82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241280" y="3291840"/>
            <a:ext cx="3840480" cy="3840480"/>
          </a:xfrm>
          <a:prstGeom prst="ellipse">
            <a:avLst/>
          </a:prstGeom>
          <a:solidFill>
            <a:srgbClr val="1C7293">
              <a:alpha val="40000"/>
            </a:srgb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123444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PRAICP-1004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691640"/>
            <a:ext cx="98755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Rainfall Time Series Forecasting</a:t>
            </a:r>
            <a:endParaRPr lang="en-US" sz="40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2834640"/>
            <a:ext cx="8686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Forecasting monthly rainfall and single-day rainfall extremes</a:t>
            </a:r>
            <a:endParaRPr lang="en-US" sz="16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7E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38 years of Changi Climate Station data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22960" y="3931920"/>
            <a:ext cx="2011680" cy="0"/>
          </a:xfrm>
          <a:prstGeom prst="line">
            <a:avLst/>
          </a:prstGeom>
          <a:noFill/>
          <a:ln w="25400">
            <a:solidFill>
              <a:srgbClr val="5FB8D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22960" y="59436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 Capstone Project</a:t>
            </a:r>
            <a:endParaRPr lang="en-US" sz="1300" dirty="0"/>
          </a:p>
        </p:txBody>
      </p:sp>
      <p:sp>
        <p:nvSpPr>
          <p:cNvPr id="10" name="Text 8"/>
          <p:cNvSpPr txBox="1"/>
          <p:nvPr/>
        </p:nvSpPr>
        <p:spPr>
          <a:xfrm>
            <a:off x="822960" y="626364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B6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DataMites™ Project Mentoring PR-1004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Objectives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E8F3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3258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Case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37360"/>
            <a:ext cx="5120640" cy="1920240"/>
          </a:xfrm>
          <a:prstGeom prst="roundRect">
            <a:avLst>
              <a:gd name="adj" fmla="val 5714"/>
            </a:avLst>
          </a:prstGeom>
          <a:solidFill>
            <a:srgbClr val="E8F3F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1920240"/>
            <a:ext cx="448056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 a forecasting model that predicts total rainfall for the next 12 months using historical data — and separately, forecasts the highest rainfall likely to occur in a single day for a given month.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3258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Goals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035040" y="1837944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035040" y="183794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0" y="178308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&amp; preprocess 38 years of monthly rainfall data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035040" y="2441448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035040" y="244144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6400800" y="238658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time-aware features (lags, rolling means, seasonality)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35040" y="3044952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035040" y="3044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0" y="2990088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&amp; compare 5 forecasting models (statistical + ML)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35040" y="3648456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035040" y="364845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0" y="359359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total rainfall 12 months ahead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035040" y="4251960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035040" y="42519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6400800" y="419709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 the highest single-day rainfall per month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035040" y="4855464"/>
            <a:ext cx="219456" cy="219456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035040" y="48554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480060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 results through an interactive dashboard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PRAICP-1004  |  Rainfall Time Series Forecasting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E8F3F8"/>
          </a:solidFill>
          <a:ln/>
        </p:spPr>
      </p:sp>
      <p:sp>
        <p:nvSpPr>
          <p:cNvPr id="4" name="Shape 2"/>
          <p:cNvSpPr/>
          <p:nvPr/>
        </p:nvSpPr>
        <p:spPr>
          <a:xfrm>
            <a:off x="548640" y="1371600"/>
            <a:ext cx="3520440" cy="150876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4475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462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1488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6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Months of data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6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(Jan 1982 – Jun 2020)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343400" y="1371600"/>
            <a:ext cx="3520440" cy="150876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4343400" y="144475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4526280" y="21488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6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 or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6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8138160" y="1371600"/>
            <a:ext cx="3520440" cy="1508760"/>
          </a:xfrm>
          <a:prstGeom prst="roundRect">
            <a:avLst>
              <a:gd name="adj" fmla="val 7273"/>
            </a:avLst>
          </a:prstGeom>
          <a:solidFill>
            <a:srgbClr val="065A82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138160" y="1444752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8321040" y="2148840"/>
            <a:ext cx="3154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6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 monthly series</a:t>
            </a:r>
            <a:endParaRPr lang="en-US" sz="11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D6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Changi Station</a:t>
            </a:r>
            <a:endParaRPr lang="en-US" sz="115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31089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Merged Monthly Series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1064240" cy="1828800"/>
        </p:xfrm>
        <a:graphic>
          <a:graphicData uri="http://schemas.openxmlformats.org/drawingml/2006/table">
            <a:tbl>
              <a:tblPr/>
              <a:tblGrid>
                <a:gridCol w="4206240"/>
                <a:gridCol w="3017520"/>
                <a:gridCol w="384048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Column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rainfall-monthly-total.csv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total_rainfall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rainfall for the month (mm)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rainfall-monthly-highest-daily-total.csv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maximum_rainfall_in_a_day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Highest single-day rainfall in month (mm)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rainfall-monthly-number-of-rain-days.csv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no_of_rainy_days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7242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 of rain days (≥0.2mm) in month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E4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5" name="Text 12"/>
          <p:cNvSpPr txBox="1"/>
          <p:nvPr/>
        </p:nvSpPr>
        <p:spPr>
          <a:xfrm>
            <a:off x="548640" y="5532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National Environment Agency, Singapore (data.gov.sg)  ·  Note: aggregated monthly, not daily</a:t>
            </a:r>
            <a:endParaRPr lang="en-US" sz="105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PRAICP-1004  |  Rainfall Time Series Forecasting</a:t>
            </a:r>
            <a:endParaRPr lang="en-US" sz="900" dirty="0"/>
          </a:p>
        </p:txBody>
      </p:sp>
      <p:sp>
        <p:nvSpPr>
          <p:cNvPr id="17" name="Text 14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Models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E8F3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5212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80136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7373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Lag features: t-1, t-2, t-3, t-6, t-12 months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230428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24028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Rolling means: 3-month &amp; 12-month windows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80720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7432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features: month number, year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310128"/>
            <a:ext cx="109728" cy="10972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24612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train/test split (no shuffling)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6035040" y="12801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Forecasting Models Compared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035040" y="1737360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E8F3F8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217920" y="173736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SARIMA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17373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Classical seasonal statistical model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35040" y="2267712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E8F3F8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217920" y="226771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Regression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8321040" y="226771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 on lag/calendar features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35040" y="2798064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E8F3F8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217920" y="279806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8321040" y="2798064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decision trees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6035040" y="3328416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E8F3F8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217920" y="332841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Gradient Boosting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8321040" y="3328416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Sequential boosting ensemble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6035040" y="3858768"/>
            <a:ext cx="5577840" cy="457200"/>
          </a:xfrm>
          <a:prstGeom prst="roundRect">
            <a:avLst>
              <a:gd name="adj" fmla="val 16000"/>
            </a:avLst>
          </a:prstGeom>
          <a:solidFill>
            <a:srgbClr val="E8F3F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217920" y="385876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8321040" y="3858768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Optimized gradient boosting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48640" y="4709160"/>
            <a:ext cx="11064240" cy="731520"/>
          </a:xfrm>
          <a:prstGeom prst="roundRect">
            <a:avLst>
              <a:gd name="adj" fmla="val 12500"/>
            </a:avLst>
          </a:prstGeom>
          <a:solidFill>
            <a:srgbClr val="21295C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22960" y="47091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Tuning:  GridSearchCV + TimeSeriesSplit (5 folds) — never random k-fold, to respect chronological order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metrics: MAE, RMSE, R² — measured on a held-out chronological test period (most recent ~15% of months)</a:t>
            </a:r>
            <a:endParaRPr lang="en-US" sz="1250" dirty="0"/>
          </a:p>
        </p:txBody>
      </p:sp>
      <p:sp>
        <p:nvSpPr>
          <p:cNvPr id="32" name="Text 3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PRAICP-1004  |  Rainfall Time Series Forecasting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Results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E8F3F8"/>
          </a:solidFill>
          <a:ln/>
        </p:spPr>
      </p:sp>
      <p:graphicFrame>
        <p:nvGraphicFramePr>
          <p:cNvPr id="4" name="Chart 0" descr=""/>
          <p:cNvGraphicFramePr/>
          <p:nvPr/>
        </p:nvGraphicFramePr>
        <p:xfrm>
          <a:off x="548640" y="1371600"/>
          <a:ext cx="667512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7498080" y="14173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7498080" y="1783080"/>
            <a:ext cx="4114800" cy="1051560"/>
          </a:xfrm>
          <a:prstGeom prst="roundRect">
            <a:avLst>
              <a:gd name="adj" fmla="val 8696"/>
            </a:avLst>
          </a:prstGeom>
          <a:solidFill>
            <a:srgbClr val="E8F3F8"/>
          </a:solidFill>
          <a:ln/>
        </p:spPr>
      </p:sp>
      <p:sp>
        <p:nvSpPr>
          <p:cNvPr id="7" name="Text 4"/>
          <p:cNvSpPr txBox="1"/>
          <p:nvPr/>
        </p:nvSpPr>
        <p:spPr>
          <a:xfrm>
            <a:off x="7726680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65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Linear Regression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726680" y="22860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68.9 mm   ·   RMSE 82.8 mm   ·   R² 0.10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30632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7498080" y="3429000"/>
            <a:ext cx="4114800" cy="1828800"/>
          </a:xfrm>
          <a:prstGeom prst="roundRect">
            <a:avLst>
              <a:gd name="adj" fmla="val 5000"/>
            </a:avLst>
          </a:prstGeom>
          <a:solidFill>
            <a:srgbClr val="21295C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26680" y="3547872"/>
            <a:ext cx="365760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D6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Rainfall is genuinely noisy — even the best model explains only ~10% of month-to-month variance (R² ≈ 0.10). Models mainly capture the seasonal monsoon pattern, not exact totals — and that limitation is reported honestly.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PRAICP-1004  |  Rainfall Time Series Forecasting</a:t>
            </a:r>
            <a:endParaRPr lang="en-US" sz="900" dirty="0"/>
          </a:p>
        </p:txBody>
      </p:sp>
      <p:sp>
        <p:nvSpPr>
          <p:cNvPr id="13" name="Text 10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Forecasts &amp; Interactive Dashboard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E8F3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1-Year Total Rainfall Forecast (SARIMA)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1645920"/>
          <a:ext cx="667512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4434840"/>
            <a:ext cx="6675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Monsoon peak visible in Nov–Dec; driest stretch in Feb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12801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 Daily Rainfall Forecast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7498080" y="1645920"/>
            <a:ext cx="4114800" cy="1417320"/>
          </a:xfrm>
          <a:prstGeom prst="roundRect">
            <a:avLst>
              <a:gd name="adj" fmla="val 6452"/>
            </a:avLst>
          </a:prstGeom>
          <a:solidFill>
            <a:srgbClr val="E8F3F8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7726680" y="1783080"/>
            <a:ext cx="3657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724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separate Random Forest model forecasts the highest single-day rainfall expected per calendar month — e.g. July's forecast single-day max vs. its historical average and record.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7498080" y="324612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 Dashboard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98080" y="3611880"/>
            <a:ext cx="4114800" cy="1737360"/>
          </a:xfrm>
          <a:prstGeom prst="roundRect">
            <a:avLst>
              <a:gd name="adj" fmla="val 5263"/>
            </a:avLst>
          </a:prstGeom>
          <a:solidFill>
            <a:srgbClr val="21295C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7726680" y="3749040"/>
            <a:ext cx="3657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forecasts are also delivered as: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An in-notebook ipywidgets dashboard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A Flask web app with a light-blue UI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D6EB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pick a month from a dropdown and see results instantly — no code required.</a:t>
            </a:r>
            <a:endParaRPr lang="en-US" sz="115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PRAICP-1004  |  Rainfall Time Series Forecasting</a:t>
            </a:r>
            <a:endParaRPr lang="en-US" sz="900" dirty="0"/>
          </a:p>
        </p:txBody>
      </p:sp>
      <p:sp>
        <p:nvSpPr>
          <p:cNvPr id="14" name="Text 11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Insights, Challenges &amp; Conclusion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051560"/>
            <a:ext cx="11064240" cy="182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2801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Insights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755648"/>
            <a:ext cx="109728" cy="109728"/>
          </a:xfrm>
          <a:prstGeom prst="ellipse">
            <a:avLst/>
          </a:prstGeom>
          <a:solidFill>
            <a:srgbClr val="5FB8D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1691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monsoon seasonality supports drainage &amp; agriculture planning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48640" y="2377440"/>
            <a:ext cx="109728" cy="109728"/>
          </a:xfrm>
          <a:prstGeom prst="ellipse">
            <a:avLst/>
          </a:prstGeom>
          <a:solidFill>
            <a:srgbClr val="5FB8D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231343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1-year outlook aids reservoir management &amp; flood-preparedness budgets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2999232"/>
            <a:ext cx="109728" cy="109728"/>
          </a:xfrm>
          <a:prstGeom prst="ellipse">
            <a:avLst/>
          </a:prstGeom>
          <a:solidFill>
            <a:srgbClr val="5FB8D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293522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Single-day extremes flagged independently of monthly totals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548640" y="3621024"/>
            <a:ext cx="109728" cy="109728"/>
          </a:xfrm>
          <a:prstGeom prst="ellipse">
            <a:avLst/>
          </a:prstGeom>
          <a:solidFill>
            <a:srgbClr val="5FB8DB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355701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makes forecasts usable by non-technical stakeholders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263640" y="128016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9FD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Challenges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263640" y="1755648"/>
            <a:ext cx="109728" cy="109728"/>
          </a:xfrm>
          <a:prstGeom prst="ellipse">
            <a:avLst/>
          </a:prstGeom>
          <a:solidFill>
            <a:srgbClr val="5FB8D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537960" y="169164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Monthly-only granularity — no true daily rainfall series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263640" y="2377440"/>
            <a:ext cx="109728" cy="109728"/>
          </a:xfrm>
          <a:prstGeom prst="ellipse">
            <a:avLst/>
          </a:prstGeom>
          <a:solidFill>
            <a:srgbClr val="5FB8DB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537960" y="2313432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Preserving chronological order (no random splits/CV)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263640" y="2999232"/>
            <a:ext cx="109728" cy="109728"/>
          </a:xfrm>
          <a:prstGeom prst="ellipse">
            <a:avLst/>
          </a:prstGeom>
          <a:solidFill>
            <a:srgbClr val="5FB8D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37960" y="2935224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seasonality required a dedicated SARIMA model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263640" y="3621024"/>
            <a:ext cx="109728" cy="109728"/>
          </a:xfrm>
          <a:prstGeom prst="ellipse">
            <a:avLst/>
          </a:prstGeom>
          <a:solidFill>
            <a:srgbClr val="5FB8DB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537960" y="3557016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multi-step forecasting for the 12-month horizon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11064240" cy="1691640"/>
          </a:xfrm>
          <a:prstGeom prst="roundRect">
            <a:avLst>
              <a:gd name="adj" fmla="val 6486"/>
            </a:avLst>
          </a:prstGeom>
          <a:solidFill>
            <a:srgbClr val="065A8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4480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4846320"/>
            <a:ext cx="10515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8F3F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Combining a classical seasonal model (SARIMA) with feature-based ML regressors, and delivering results through both a notebook dashboard and a web app, provides a robust, accessible way to forecast rainfall for agricultural, flood-risk, and water-resource planning.</a:t>
            </a:r>
            <a:endParaRPr lang="en-US" sz="1350" dirty="0"/>
          </a:p>
        </p:txBody>
      </p:sp>
      <p:sp>
        <p:nvSpPr>
          <p:cNvPr id="25" name="Text 23"/>
          <p:cNvSpPr txBox="1"/>
          <p:nvPr/>
        </p:nvSpPr>
        <p:spPr>
          <a:xfrm>
            <a:off x="457200" y="6510528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PRAICP-1004  |  Rainfall Time Series Forecasting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510528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170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2026-09-24T05:28:42Z</dcterms:created>
  <dcterms:modified xsi:type="dcterms:W3CDTF">2026-09-24T05:28:42Z</dcterms:modified>
</cp:coreProperties>
</file>