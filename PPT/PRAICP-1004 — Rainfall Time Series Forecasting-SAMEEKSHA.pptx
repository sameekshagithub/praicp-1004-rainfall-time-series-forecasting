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B48F-A659-3EF3-3DAE-298DFB1D2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ABDF4-9547-4672-DA01-CDD4A696D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4343-2C92-0F81-88ED-544C2AB2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1335-0F97-DA71-9FB0-471213A3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7C753-694D-4057-2283-96E83004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6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42D3-5496-C42E-37E1-3D45FC8D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13E0-ED77-4D68-4A9C-E9DB396E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50062-3FF0-BDE9-334A-4F94D038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172E-A3BD-D0D0-FE92-2A0BE2E2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15EC5-5EA5-52BB-6A44-C8DBA7E3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0969-1667-909C-6154-67A308DA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11B00-84B2-8CF0-8B22-6BBB7CA5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8AE11-FA91-F988-24C8-D8FAD035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D04ED-529F-5856-3CC9-05B8CDDD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5BAD5-D1EB-E2EF-0C29-4927D4A7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8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FD25-AC6D-53DC-1099-D497AF67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2B33-F3D1-2A2B-5AEB-4EE112E8E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CB9C2-5307-B263-1E20-4187843B3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BFD1F-965F-22D9-392D-EDD1DD7A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7543F-E0AA-C0BB-F727-3152BE41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3E97A-8AA0-BDC0-0DB3-1D10E6AC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2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9965-09ED-E55D-D8F1-33DA0BAF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8C3C-8F45-6322-034B-5EED1D0AD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8F90D-DD5B-0388-273B-50ED7DF5A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962D6-9F0E-7229-D06C-05D19B045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D8F02-7A48-8C6F-ADB5-EA8E7E672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2D497-97E2-F5D2-0C05-AC27A3D6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C2F86-6896-FDEB-65A2-DAE20919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94CBC-7C0F-3CEC-0239-1C4B3E9B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7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ACA3-1A61-C8B2-5BA5-ADAECFD3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5CAA-E13B-4863-E78E-D50B57DC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1202C-BA3E-197B-BC6B-A3894929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DC5EB-C9FE-EFA3-0781-55785C68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44D90-F5DE-7E42-F826-F3D3A3EE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80F5F-D825-13FD-A67B-668C9023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D15AA-D324-792E-01FC-9AEABD83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3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CE0E-F133-9E2C-BC17-8E360139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B37F3-922F-351A-AD66-2C0D82BF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1BCDF-DBFA-D152-A3CF-061B95DB5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BF135-F3D3-0F1D-1367-118777D9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69740-A880-4469-CA4C-6AA0EB2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35BE-3369-CDC2-2649-7349089F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0A13-6F72-8E0E-1BA4-806115AA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76F4F-3329-C49A-5567-44DADC8A2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3BB5D-F334-D4ED-F691-B5203864D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2F50C-606A-02EC-D723-8C5C5DCE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A805B-B89A-519F-D184-78D43CCB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44F68-C13A-AF91-F778-B6358414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39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2C45-43D2-CABF-ABF1-33BCDB2E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BB95D-3D15-3EEC-8A34-B2157AB27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3ED9E-2AB1-4FF9-76FE-2D57E1D9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1E282-788C-0118-72F9-400844B3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8BE7E-70F4-35C0-652B-8E602DBB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5E4F3-B871-A526-6129-E3FC6C16B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8C600-4F59-5752-7764-49E24B7D4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CDF7-E787-04B8-7AEE-16622E00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C772C-E11C-42AA-B86D-DB1BA921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BD6C5-B4E3-1072-FCCB-4281875B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7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FA8C-B51C-58E1-F8CB-C8B0B068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5E31C-B515-727A-0030-F92C985C7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85462-3FBB-AEE8-C6D0-E17F29846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9A497-3B9D-49D2-B756-18A997F6F35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D7F1-EAEB-7C4F-90A4-6E585C020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DB816-C143-FD49-6DD6-40A86545D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4E58-F685-4C97-9DBA-CE08CF92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9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1299-A5C7-6435-BD3F-2B86FCD67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1917180" cy="2387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PRAICP-1004 — Rainfall Time Series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953AF-5E6B-59B5-0F40-3F4934991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042" y="5243804"/>
            <a:ext cx="4798687" cy="1614196"/>
          </a:xfrm>
        </p:spPr>
        <p:txBody>
          <a:bodyPr>
            <a:normAutofit/>
          </a:bodyPr>
          <a:lstStyle/>
          <a:p>
            <a:r>
              <a:rPr lang="en-US" b="1" dirty="0"/>
              <a:t>Submitted By:</a:t>
            </a:r>
            <a:r>
              <a:rPr lang="en-US" dirty="0"/>
              <a:t> Sameeksha</a:t>
            </a:r>
            <a:br>
              <a:rPr lang="en-US" dirty="0"/>
            </a:br>
            <a:r>
              <a:rPr lang="en-US" b="1" dirty="0"/>
              <a:t>Team Code:</a:t>
            </a:r>
            <a:r>
              <a:rPr lang="en-US" dirty="0"/>
              <a:t> PTID-AIE-JUL-26-11142</a:t>
            </a:r>
          </a:p>
          <a:p>
            <a:r>
              <a:rPr lang="en-US" b="1" dirty="0"/>
              <a:t>Project Domain:</a:t>
            </a:r>
            <a:r>
              <a:rPr lang="en-US" dirty="0"/>
              <a:t> Time Series Forecasting &amp; Machine Learning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5F9BD-4F08-0FF6-62D2-4CA883D87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0400"/>
            <a:ext cx="641579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2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D33F-1829-C0C4-07EA-0164D7F3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CA07-7F96-E2D3-55BF-80264D799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Project Objectives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Feature Engineering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Comparison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EB468-5042-BFB7-C815-C6296790EC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Forecasting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Daily Rainfall Forecast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 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&amp; Predictions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996D2-AEC7-3D30-7626-99105B69C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368852" y="5441429"/>
            <a:ext cx="2823147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1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A6E9-46DC-9A5F-1A88-E2E0446F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 &amp;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4269B-BB34-C0F5-0914-09FFD10F0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234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rainfall patterns using time-series techniques.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to identify trends and seasonality.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transform rainfall data for forecasting.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statistical and machine-learning forecasting models.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models using appropriate evaluation metrics.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the selected machine-learning model.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total monthly rainfall for the next 12 months.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the highest daily rainfall expected for upcoming months.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for rainfall and resource planning.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5B621-282A-E5CB-134E-F7584E479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8160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 forecasting system that analyzes historical rainfall patterns and predicts future rainfall using time-series and machine-learning techniques.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rainfall forecasting can support planning related to water resources, drainage, agriculture, infrastructure and extreme-rainfall preparedness.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D4B43-A81C-4AD0-7AE2-4AAC50594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8169639" y="5441428"/>
            <a:ext cx="3777522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4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42F3-5DD3-75B1-808C-B9887828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1401-D407-53BA-BA44-34EBAE0C2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Rainfall Time Series Dataset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Capstone Project Dataset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Series Forecasting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 Climate Station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1982 – June 2020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462 monthly observations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3F9AF-759D-6DBD-B85C-89C3F29A3D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Main Variables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Monthly Rainfall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Daily Rainfall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Rain Days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/ Date 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Target Forecasts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Monthly Rainfall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Highest Daily Rainfall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40B40-D38B-BA18-026B-0F84DD343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8740515" y="365125"/>
            <a:ext cx="2613285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5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AF12-C98C-C948-8AF8-B6990AEE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WORKFLOW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9AB7BA7-9E9F-1BC2-459B-8D4C0D90C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13"/>
          <a:stretch>
            <a:fillRect/>
          </a:stretch>
        </p:blipFill>
        <p:spPr>
          <a:xfrm>
            <a:off x="0" y="1825625"/>
            <a:ext cx="11812249" cy="4667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4DF06B-0BC4-21B4-770E-99B57546F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728616" y="365125"/>
            <a:ext cx="1848786" cy="94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6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5E4A-DC02-3993-4CA0-D5249906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21B8-4612-2C02-EDF8-6635B3F60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1911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462 monthly observations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rainfall data spans multiple decades.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rainfall shows considerable variation over time.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seasonal patterns are observed.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variables have different distributions.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rainfall observations are present.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rainfall variables were analyzed.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decomposition was performed to understand trend, </a:t>
            </a:r>
          </a:p>
          <a:p>
            <a:pPr marL="0" lv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seasonality and residual variation.</a:t>
            </a:r>
          </a:p>
          <a:p>
            <a:pPr marL="0" lv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EDA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underlying rainfall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selecting and training forecasting models.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BF0A5-B24A-F061-57C4-3EF3AC160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10238282" y="230188"/>
            <a:ext cx="1668905" cy="120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32D039-295A-3DB2-B397-7690B9EDB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106" y="1690688"/>
            <a:ext cx="5135388" cy="370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4AC9-FB82-8972-EBBF-080EEE8C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TIME SERIES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DA7F-0FA7-3C80-45A8-DD7EDA9E6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Monthly Rainfall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historical rainfall series was visualized to identify: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rainfall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fluctuations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High-rainfall periods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Low-rainfall periods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across years 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exhibits recurring fluctuations over time, indicating the importance of incorporating seasonal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forecasting.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1C33B-0F69-C90B-DFFD-9D3FCE584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10313233" y="0"/>
            <a:ext cx="1878767" cy="12002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64CDE8-CD95-A054-8B2D-9E14DF484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440" y="2532420"/>
            <a:ext cx="6525718" cy="27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4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AC61-38CA-3991-9715-3464318C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PREPARATION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1EA4C-5CAC-1638-4764-F667969CBF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month column into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format. 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observations chronologically. 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month as the time-series index. 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monthly continuity. 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 and duplicates.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FB505-6510-349E-5A04-3B07584B81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Feature Engineering</a:t>
            </a:r>
          </a:p>
          <a:p>
            <a:r>
              <a:rPr lang="en-US" dirty="0"/>
              <a:t>Created time-dependent features such as:</a:t>
            </a:r>
          </a:p>
          <a:p>
            <a:pPr lvl="0"/>
            <a:r>
              <a:rPr lang="en-US" dirty="0"/>
              <a:t>Month Number </a:t>
            </a:r>
          </a:p>
          <a:p>
            <a:pPr lvl="0"/>
            <a:r>
              <a:rPr lang="en-US" dirty="0"/>
              <a:t>Year </a:t>
            </a:r>
          </a:p>
          <a:p>
            <a:pPr lvl="0"/>
            <a:r>
              <a:rPr lang="en-US" dirty="0"/>
              <a:t>Lag 1 → Previous month's rainfall</a:t>
            </a:r>
          </a:p>
          <a:p>
            <a:pPr lvl="0"/>
            <a:r>
              <a:rPr lang="en-US" dirty="0"/>
              <a:t>Lag 2 → Rainfall two months earlier</a:t>
            </a:r>
          </a:p>
          <a:p>
            <a:pPr lvl="0"/>
            <a:r>
              <a:rPr lang="en-US" dirty="0"/>
              <a:t>Lag 3 → Rainfall three months earlier</a:t>
            </a:r>
          </a:p>
          <a:p>
            <a:pPr lvl="0"/>
            <a:r>
              <a:rPr lang="en-US" dirty="0"/>
              <a:t>Lag 12 → Rainfall in the same month of the previous year</a:t>
            </a:r>
          </a:p>
          <a:p>
            <a:pPr lvl="0"/>
            <a:r>
              <a:rPr lang="en-US" dirty="0"/>
              <a:t>12-Month Rolling Mean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31642-9F54-3F4E-4346-E86F047B9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10724213" y="80922"/>
            <a:ext cx="1259174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2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ED95-B76E-E5DD-D873-3C222E06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MODEL BUILDING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C3FCA-F5DD-DE09-96BC-DD5B53F85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530652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compares: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Strategy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Note:Both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classical statistical forecasting and machine-learning approaches were evaluated to determine how effectively they capture rainfall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A2BBA-7D68-DA72-0B83-5E4015FC4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368852" y="5441429"/>
            <a:ext cx="2823147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7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118C-766F-81F3-8019-66AC47F2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MODEL EVALUATION &amp;MODEL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42038-E264-26A2-F914-ED23FF119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93170" cy="48160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1.MAE — Mean Absolute Error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average absolute difference between actual and predicted rainfall.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→ Better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2.RMSE — Root Mean Squared Error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Penalizes larger prediction errors more strongly.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→ Better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3.R² — R-Squared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much variation in the target is explained by the model.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→ Better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21FE7-6657-D203-72F8-D8A19DE23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10178320" y="230189"/>
            <a:ext cx="2013679" cy="120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089C4-3B72-6C68-806B-237E36411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22" y="1690689"/>
            <a:ext cx="670528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18C4-0337-485E-A50F-04D74D6F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8CB2-175E-EEC1-2170-35D771FA3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16252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Objective:Improve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and generalization by identifying suitable model parameters.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1.GridSearchCV  2.TimeSeriesSplit: Traditional random cross-validation can cause future information to influence training.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3.TimeSeriesSplit maintains chronological order: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→ Training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→ Validation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93C5A-C582-801E-F80C-0AF786751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788578" y="230189"/>
            <a:ext cx="2403422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76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0962-02B9-7E40-3F40-83CDA52D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12-MONTH RAINFALL FORECAST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98CF445-6E1E-3E47-16B1-22385C668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1058"/>
            <a:ext cx="10515600" cy="34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6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09A9-D06E-DD34-8452-2DFE0ECC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HIGHEST DAILY RAINFALL FORECAST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E15510-57F4-9FDE-401B-FA81DCE9D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97898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75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B8D2-92E5-CCA0-216E-6EF4962E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9C01-B7A6-0BA0-CA69-D277EA381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354"/>
            <a:ext cx="10515600" cy="50602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Seasonal Planning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seasonal patterns can support rainfall-sensitive planning.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Water Resource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 can assist in planning water storage and resource allocation.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Flood Preparedness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extreme rainfall can provide useful information for preparedness planning.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Infrastructure Planning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patterns can support drainage and infrastructure considerations.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Agricultural Planning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rainfall information can support rainfall-dependent activities.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Continuous Monitoring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can be retrained as new rainfall observations become available.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B1773-5FE4-0A1E-A7C8-5EEAAD06F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024078" y="365125"/>
            <a:ext cx="2823147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4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39BF-A091-C8A2-4BE9-871F6005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78DC-5255-193C-5289-D6696A3B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long-term time-series data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chronological order during modelling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handling seasonal patterns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forecasting approaches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meaningful lag and rolling features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data leakage during model validation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statistical and ML models fairly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multi-step future forecasting 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rainfall variability and extreme observations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4B353-5718-6B9E-7EAC-9CF147BB6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218951" y="365125"/>
            <a:ext cx="2823147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1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97FA-DFC7-0BDA-AE3F-FAA0B319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BDE5-CCB0-ADF1-14D1-F479452F7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7500" lnSpcReduction="20000"/>
          </a:bodyPr>
          <a:lstStyle/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historical rainfall time-series data.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trends and seasonal patterns.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time-series decomposition and stationarity analysis.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lag, calendar and rolling features.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statistical and machine-learning forecasting models.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 using MAE, RMSE and R².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time-series-aware hyperparameter tuning.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12-month rainfall forecast.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monthly highest daily rainfall. 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practical insights for rainfall-related planning.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7E646-64A9-1E5D-B837-B8163693C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143999" y="365125"/>
            <a:ext cx="2823147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7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1C73-DBC3-E12D-F935-2D7FB301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15.MODEL OUTPUT &amp; PREDICTIONS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8BEEA-E53F-837E-A22C-6DFAC8EBB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662" y="1834497"/>
            <a:ext cx="5291528" cy="4333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D5678B-B16B-4F4F-9A3A-E25C411B5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5223"/>
            <a:ext cx="6096000" cy="40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72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E3E5-E81F-2FBD-582E-168BFC28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364" y="1292485"/>
            <a:ext cx="8095938" cy="3177915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C5AAD-42EF-283A-8354-BE2501987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4276"/>
          <a:stretch>
            <a:fillRect/>
          </a:stretch>
        </p:blipFill>
        <p:spPr>
          <a:xfrm>
            <a:off x="-1" y="4470400"/>
            <a:ext cx="4302178" cy="238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BA1A7-BCDD-C9E7-7DF3-3444EACA5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4883" r="72897" b="74399"/>
          <a:stretch>
            <a:fillRect/>
          </a:stretch>
        </p:blipFill>
        <p:spPr>
          <a:xfrm>
            <a:off x="9923487" y="260170"/>
            <a:ext cx="2013679" cy="12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35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896</Words>
  <Application>Microsoft Office PowerPoint</Application>
  <PresentationFormat>Widescreen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PRAICP-1004 — Rainfall Time Series Forecasting</vt:lpstr>
      <vt:lpstr>TABLE OF CONTENTS</vt:lpstr>
      <vt:lpstr>1. PROBLEM STATEMENT &amp; PROJECT OBJECTIVES</vt:lpstr>
      <vt:lpstr>2. DATASET OVERVIEW</vt:lpstr>
      <vt:lpstr>3. PROJECT WORKFLOW</vt:lpstr>
      <vt:lpstr>4. EXPLORATORY DATA ANALYSIS</vt:lpstr>
      <vt:lpstr>5. TIME SERIES TREND ANALYSIS</vt:lpstr>
      <vt:lpstr>6. DATA PREPARATION &amp; FEATURE ENGINEERING</vt:lpstr>
      <vt:lpstr>7. MODEL BUILDING &amp; TRAINING</vt:lpstr>
      <vt:lpstr>8. MODEL EVALUATION &amp;MODEL COMPARISON</vt:lpstr>
      <vt:lpstr>9. HYPERPARAMETER TUNING</vt:lpstr>
      <vt:lpstr>10. 12-MONTH RAINFALL FORECAST</vt:lpstr>
      <vt:lpstr>11. HIGHEST DAILY RAINFALL FORECAST</vt:lpstr>
      <vt:lpstr>12. BUSINESS INSIGHTS</vt:lpstr>
      <vt:lpstr>13. CHALLENGES FACED</vt:lpstr>
      <vt:lpstr>14. FINAL CONCLUSION</vt:lpstr>
      <vt:lpstr>15.MODEL OUTPUT &amp; PREDICTIONS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Sameeksha Rai</dc:creator>
  <cp:lastModifiedBy>Sameeksha Rai</cp:lastModifiedBy>
  <cp:revision>2</cp:revision>
  <dcterms:created xsi:type="dcterms:W3CDTF">2026-09-24T07:04:36Z</dcterms:created>
  <dcterms:modified xsi:type="dcterms:W3CDTF">2026-09-24T07:08:23Z</dcterms:modified>
</cp:coreProperties>
</file>